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2"/>
  </p:handoutMasterIdLst>
  <p:sldIdLst>
    <p:sldId id="1476" r:id="rId3"/>
    <p:sldId id="1581" r:id="rId5"/>
    <p:sldId id="1583" r:id="rId6"/>
    <p:sldId id="1492" r:id="rId7"/>
    <p:sldId id="1586" r:id="rId8"/>
    <p:sldId id="1580" r:id="rId9"/>
    <p:sldId id="1578" r:id="rId10"/>
    <p:sldId id="1579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7326" userDrawn="1">
          <p15:clr>
            <a:srgbClr val="A4A3A4"/>
          </p15:clr>
        </p15:guide>
        <p15:guide id="2" pos="3940" userDrawn="1">
          <p15:clr>
            <a:srgbClr val="A4A3A4"/>
          </p15:clr>
        </p15:guide>
        <p15:guide id="3" orient="horz" pos="1964" userDrawn="1">
          <p15:clr>
            <a:srgbClr val="A4A3A4"/>
          </p15:clr>
        </p15:guide>
        <p15:guide id="4" orient="horz" pos="8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  <p:cmAuthor id="2" name="FlK" initials="FLK" lastIdx="9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D5EA"/>
    <a:srgbClr val="FFFFFF"/>
    <a:srgbClr val="8178B0"/>
    <a:srgbClr val="C977AA"/>
    <a:srgbClr val="81539C"/>
    <a:srgbClr val="EDEBF4"/>
    <a:srgbClr val="82A9C8"/>
    <a:srgbClr val="BFBFBF"/>
    <a:srgbClr val="86A7C6"/>
    <a:srgbClr val="89AC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252" autoAdjust="0"/>
    <p:restoredTop sz="94322" autoAdjust="0"/>
  </p:normalViewPr>
  <p:slideViewPr>
    <p:cSldViewPr snapToGrid="0" showGuides="1">
      <p:cViewPr varScale="1">
        <p:scale>
          <a:sx n="107" d="100"/>
          <a:sy n="107" d="100"/>
        </p:scale>
        <p:origin x="1216" y="168"/>
      </p:cViewPr>
      <p:guideLst>
        <p:guide pos="7326"/>
        <p:guide pos="3940"/>
        <p:guide orient="horz" pos="1964"/>
        <p:guide orient="horz" pos="84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014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commentAuthors" Target="commentAuthors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840D0D-F50A-414A-89EF-C1E6F5E9812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03A254-2215-40F0-AFFD-A86E321010C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2F8E45-8117-034F-8B83-11DE404E4BB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19B7EF-CADE-8642-89E5-B800A00849C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0" y="-19685"/>
            <a:ext cx="12200255" cy="68668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53142" y="1188720"/>
            <a:ext cx="10885715" cy="797243"/>
          </a:xfrm>
        </p:spPr>
        <p:txBody>
          <a:bodyPr anchor="b">
            <a:normAutofit/>
          </a:bodyPr>
          <a:lstStyle>
            <a:lvl1pPr algn="l"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安全定义边界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53142" y="2256361"/>
            <a:ext cx="10885715" cy="365126"/>
          </a:xfrm>
        </p:spPr>
        <p:txBody>
          <a:bodyPr>
            <a:noAutofit/>
          </a:bodyPr>
          <a:lstStyle>
            <a:lvl1pPr marL="0" indent="0" algn="l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单击此处编辑副标题样式</a:t>
            </a:r>
            <a:endParaRPr lang="zh-CN" altLang="en-US" dirty="0"/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11" hasCustomPrompt="1"/>
          </p:nvPr>
        </p:nvSpPr>
        <p:spPr>
          <a:xfrm>
            <a:off x="653142" y="2963040"/>
            <a:ext cx="6301581" cy="60534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演讲者</a:t>
            </a:r>
            <a:endParaRPr lang="en-US" altLang="zh-CN" dirty="0"/>
          </a:p>
          <a:p>
            <a:pPr lvl="0"/>
            <a:r>
              <a:rPr lang="en-US" altLang="zh-CN" dirty="0"/>
              <a:t>20200515</a:t>
            </a:r>
            <a:endParaRPr lang="zh-CN" altLang="en-US" dirty="0"/>
          </a:p>
        </p:txBody>
      </p:sp>
      <p:pic>
        <p:nvPicPr>
          <p:cNvPr id="16" name="图片 15" descr="摄图网_401075581_科技感粒子线（非企业商用）"/>
          <p:cNvPicPr>
            <a:picLocks noChangeAspect="1"/>
          </p:cNvPicPr>
          <p:nvPr userDrawn="1"/>
        </p:nvPicPr>
        <p:blipFill>
          <a:blip r:embed="rId3">
            <a:alphaModFix amt="42000"/>
          </a:blip>
          <a:srcRect t="20208" b="39779"/>
          <a:stretch>
            <a:fillRect/>
          </a:stretch>
        </p:blipFill>
        <p:spPr>
          <a:xfrm>
            <a:off x="-635" y="4172585"/>
            <a:ext cx="12192000" cy="2307590"/>
          </a:xfrm>
          <a:prstGeom prst="rect">
            <a:avLst/>
          </a:prstGeom>
        </p:spPr>
      </p:pic>
      <p:sp>
        <p:nvSpPr>
          <p:cNvPr id="29" name="文本框 28"/>
          <p:cNvSpPr txBox="1"/>
          <p:nvPr userDrawn="1"/>
        </p:nvSpPr>
        <p:spPr>
          <a:xfrm>
            <a:off x="7870190" y="5908040"/>
            <a:ext cx="3129280" cy="21399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本文档为保密文档，未经霞智科技同意，禁止公开、复制、转发。</a:t>
            </a:r>
            <a:endParaRPr lang="zh-CN" altLang="en-US" sz="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: 圆角 12"/>
          <p:cNvSpPr/>
          <p:nvPr userDrawn="1"/>
        </p:nvSpPr>
        <p:spPr>
          <a:xfrm>
            <a:off x="10375392" y="256032"/>
            <a:ext cx="1504273" cy="59113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 noGrp="1"/>
          </p:cNvSpPr>
          <p:nvPr>
            <p:ph type="ctrTitle" hasCustomPrompt="1"/>
          </p:nvPr>
        </p:nvSpPr>
        <p:spPr>
          <a:xfrm>
            <a:off x="653142" y="1188721"/>
            <a:ext cx="10885715" cy="811530"/>
          </a:xfrm>
        </p:spPr>
        <p:txBody>
          <a:bodyPr anchor="b">
            <a:normAutofit/>
          </a:bodyPr>
          <a:lstStyle>
            <a:lvl1pPr algn="l"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安全定义边界</a:t>
            </a:r>
            <a:endParaRPr lang="zh-CN" altLang="en-US" dirty="0"/>
          </a:p>
        </p:txBody>
      </p:sp>
      <p:sp>
        <p:nvSpPr>
          <p:cNvPr id="10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53142" y="2227785"/>
            <a:ext cx="10885715" cy="365126"/>
          </a:xfrm>
        </p:spPr>
        <p:txBody>
          <a:bodyPr>
            <a:noAutofit/>
          </a:bodyPr>
          <a:lstStyle>
            <a:lvl1pPr marL="0" indent="0" algn="l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单击此处编辑副标题样式</a:t>
            </a:r>
            <a:endParaRPr lang="zh-CN" altLang="en-US" dirty="0"/>
          </a:p>
        </p:txBody>
      </p:sp>
      <p:sp>
        <p:nvSpPr>
          <p:cNvPr id="11" name="文本占位符 17"/>
          <p:cNvSpPr>
            <a:spLocks noGrp="1"/>
          </p:cNvSpPr>
          <p:nvPr>
            <p:ph type="body" sz="quarter" idx="13" hasCustomPrompt="1"/>
          </p:nvPr>
        </p:nvSpPr>
        <p:spPr>
          <a:xfrm>
            <a:off x="653142" y="3119639"/>
            <a:ext cx="6301581" cy="60534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演讲者</a:t>
            </a:r>
            <a:endParaRPr lang="en-US" altLang="zh-CN" dirty="0"/>
          </a:p>
          <a:p>
            <a:pPr lvl="0"/>
            <a:r>
              <a:rPr lang="en-US" altLang="zh-CN" dirty="0"/>
              <a:t>20200515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0056" y="657225"/>
            <a:ext cx="11322844" cy="721519"/>
          </a:xfrm>
        </p:spPr>
        <p:txBody>
          <a:bodyPr>
            <a:normAutofit/>
          </a:bodyPr>
          <a:lstStyle>
            <a:lvl1pPr>
              <a:defRPr sz="3800"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000000">
                  <a:alpha val="100000"/>
                </a:srgbClr>
              </a:clrFrom>
              <a:clrTo>
                <a:srgbClr val="000000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92260" y="94615"/>
            <a:ext cx="2106930" cy="4032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0056" y="657225"/>
            <a:ext cx="11322844" cy="721519"/>
          </a:xfrm>
        </p:spPr>
        <p:txBody>
          <a:bodyPr>
            <a:normAutofit/>
          </a:bodyPr>
          <a:lstStyle>
            <a:lvl1pPr>
              <a:defRPr sz="3800"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6582717" y="1237030"/>
            <a:ext cx="5302102" cy="2434856"/>
          </a:xfrm>
          <a:prstGeom prst="rect">
            <a:avLst/>
          </a:prstGeom>
          <a:solidFill>
            <a:schemeClr val="bg1"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0056" y="657225"/>
            <a:ext cx="11322844" cy="721519"/>
          </a:xfrm>
        </p:spPr>
        <p:txBody>
          <a:bodyPr>
            <a:normAutofit/>
          </a:bodyPr>
          <a:lstStyle>
            <a:lvl1pPr>
              <a:defRPr sz="3800"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矩形 3"/>
          <p:cNvSpPr/>
          <p:nvPr userDrawn="1"/>
        </p:nvSpPr>
        <p:spPr>
          <a:xfrm>
            <a:off x="5365630" y="6112666"/>
            <a:ext cx="2147978" cy="7453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8548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20DF40-9EBC-4372-BBA4-08EF97F4121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EA28BB-BE41-4C10-BDA7-B4326D1B319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tags" Target="../tags/tag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-10160" y="1579880"/>
            <a:ext cx="12202160" cy="179959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</a:extLst>
        </p:spPr>
        <p:txBody>
          <a:bodyPr>
            <a:normAutofit/>
          </a:bodyPr>
          <a:lstStyle/>
          <a:p>
            <a:pPr algn="ctr">
              <a:spcBef>
                <a:spcPts val="600"/>
              </a:spcBef>
            </a:pPr>
            <a:r>
              <a:rPr lang="en-US" sz="6000" spc="2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2026</a:t>
            </a:r>
            <a:r>
              <a:rPr lang="zh-CN" altLang="en-US" sz="6000" spc="2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专项整体管理方案</a:t>
            </a:r>
            <a:endParaRPr lang="zh-CN" altLang="en-US" sz="6000" spc="200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948805" y="3702050"/>
            <a:ext cx="39414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chemeClr val="bg1"/>
                </a:solidFill>
              </a:rPr>
              <a:t>袁德明</a:t>
            </a:r>
            <a:r>
              <a:rPr lang="en-US" altLang="zh-CN">
                <a:solidFill>
                  <a:schemeClr val="bg1"/>
                </a:solidFill>
              </a:rPr>
              <a:t>        2026.04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570" y="457835"/>
            <a:ext cx="1488440" cy="8896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206375" y="133350"/>
            <a:ext cx="10244455" cy="721360"/>
          </a:xfrm>
        </p:spPr>
        <p:txBody>
          <a:bodyPr>
            <a:normAutofit fontScale="90000"/>
          </a:bodyPr>
          <a:lstStyle/>
          <a:p>
            <a:r>
              <a:rPr lang="zh-CN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专项</a:t>
            </a:r>
            <a:r>
              <a:rPr lang="zh-CN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清单</a:t>
            </a:r>
            <a:endParaRPr lang="zh-CN" altLang="en-US" sz="40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324485" y="788035"/>
          <a:ext cx="11665876" cy="57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8990"/>
                <a:gridCol w="2864141"/>
                <a:gridCol w="1553845"/>
                <a:gridCol w="1480820"/>
                <a:gridCol w="4958080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序号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专项</a:t>
                      </a:r>
                      <a:r>
                        <a:rPr lang="zh-CN" altLang="en-US"/>
                        <a:t>名称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专项</a:t>
                      </a:r>
                      <a:r>
                        <a:rPr lang="zh-CN" altLang="en-US"/>
                        <a:t>负责人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对接</a:t>
                      </a:r>
                      <a:r>
                        <a:rPr lang="zh-CN" altLang="en-US"/>
                        <a:t>人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子项目</a:t>
                      </a:r>
                      <a:r>
                        <a:rPr lang="en-US" altLang="zh-CN"/>
                        <a:t>-</a:t>
                      </a:r>
                      <a:r>
                        <a:rPr lang="zh-CN" altLang="en-US"/>
                        <a:t>对接人</a:t>
                      </a:r>
                      <a:endParaRPr lang="zh-CN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MTPF</a:t>
                      </a:r>
                      <a:r>
                        <a:rPr lang="zh-CN" altLang="en-US"/>
                        <a:t>提升专项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徐融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徐融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8H</a:t>
                      </a:r>
                      <a:r>
                        <a:rPr lang="zh-CN" altLang="en-US"/>
                        <a:t>部署专项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石峰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崔凯旋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数字中台专项</a:t>
                      </a: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石峰</a:t>
                      </a: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季明清</a:t>
                      </a: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质量提升专项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石峰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吴赛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/>
                        <a:t>合同质量</a:t>
                      </a:r>
                      <a:r>
                        <a:rPr lang="en-US" altLang="zh-CN"/>
                        <a:t>-</a:t>
                      </a:r>
                      <a:r>
                        <a:rPr lang="zh-CN" altLang="en-US"/>
                        <a:t>张海滨；采购质量</a:t>
                      </a:r>
                      <a:r>
                        <a:rPr lang="en-US" altLang="zh-CN"/>
                        <a:t>-</a:t>
                      </a:r>
                      <a:r>
                        <a:rPr lang="zh-CN" altLang="en-US"/>
                        <a:t>巴路瑶；研发质量</a:t>
                      </a:r>
                      <a:r>
                        <a:rPr lang="en-US" altLang="zh-CN"/>
                        <a:t>-</a:t>
                      </a:r>
                      <a:r>
                        <a:rPr lang="zh-CN" altLang="en-US"/>
                        <a:t>袁德明；生产质量</a:t>
                      </a:r>
                      <a:r>
                        <a:rPr lang="en-US" altLang="zh-CN"/>
                        <a:t>-</a:t>
                      </a:r>
                      <a:r>
                        <a:rPr lang="zh-CN" altLang="en-US"/>
                        <a:t>吴赛；交付质量</a:t>
                      </a:r>
                      <a:r>
                        <a:rPr lang="en-US" altLang="zh-CN"/>
                        <a:t>-</a:t>
                      </a:r>
                      <a:r>
                        <a:rPr lang="zh-CN" altLang="en-US"/>
                        <a:t>崔凯旋</a:t>
                      </a:r>
                      <a:endParaRPr lang="zh-CN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渠道管理能力提升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邓超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张海滨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/>
                        <a:t>渠道管理</a:t>
                      </a:r>
                      <a:r>
                        <a:rPr lang="en-US" altLang="zh-CN"/>
                        <a:t>-</a:t>
                      </a:r>
                      <a:r>
                        <a:rPr lang="zh-CN" altLang="en-US"/>
                        <a:t>张海滨；服务收费</a:t>
                      </a:r>
                      <a:r>
                        <a:rPr lang="en-US" altLang="zh-CN"/>
                        <a:t>-</a:t>
                      </a:r>
                      <a:r>
                        <a:rPr lang="zh-CN" altLang="en-US"/>
                        <a:t>崔凯旋</a:t>
                      </a:r>
                      <a:endParaRPr lang="zh-CN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Marketing</a:t>
                      </a:r>
                      <a:r>
                        <a:rPr lang="zh-CN" altLang="en-US"/>
                        <a:t>能力提升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邓超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张海滨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政府资金专项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邓超</a:t>
                      </a: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何波</a:t>
                      </a: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降本专项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邱未召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巴路瑶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/>
                        <a:t>消独</a:t>
                      </a:r>
                      <a:r>
                        <a:rPr lang="en-US" altLang="zh-CN"/>
                        <a:t>-</a:t>
                      </a:r>
                      <a:r>
                        <a:rPr lang="zh-CN" altLang="en-US"/>
                        <a:t>陈栋力；降本</a:t>
                      </a:r>
                      <a:r>
                        <a:rPr lang="en-US" altLang="zh-CN"/>
                        <a:t>-</a:t>
                      </a:r>
                      <a:r>
                        <a:rPr lang="zh-CN" altLang="en-US"/>
                        <a:t>巴路瑶</a:t>
                      </a:r>
                      <a:endParaRPr lang="zh-CN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9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生产提效降费专项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邱未召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夏文昊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库存周转专项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邱未召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张珂铜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/>
                        <a:t>库存周转</a:t>
                      </a:r>
                      <a:r>
                        <a:rPr lang="en-US" altLang="zh-CN"/>
                        <a:t>-</a:t>
                      </a:r>
                      <a:r>
                        <a:rPr lang="zh-CN" altLang="en-US"/>
                        <a:t>张珂铜；预测准确率</a:t>
                      </a:r>
                      <a:r>
                        <a:rPr lang="en-US" altLang="zh-CN"/>
                        <a:t>-</a:t>
                      </a:r>
                      <a:r>
                        <a:rPr lang="zh-CN" altLang="en-US"/>
                        <a:t>崔凯旋</a:t>
                      </a:r>
                      <a:endParaRPr lang="zh-CN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预算管理能力提升专项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袭丽丽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袭丽丽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核算能力提升专项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袭丽丽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袭丽丽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人力提效专项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杨帆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杨帆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人力降费专项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杨帆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杨帆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206375" y="133350"/>
            <a:ext cx="10244455" cy="721360"/>
          </a:xfrm>
        </p:spPr>
        <p:txBody>
          <a:bodyPr>
            <a:normAutofit fontScale="90000"/>
          </a:bodyPr>
          <a:lstStyle/>
          <a:p>
            <a:r>
              <a:rPr lang="zh-CN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专项</a:t>
            </a:r>
            <a:r>
              <a:rPr lang="zh-CN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管理思路</a:t>
            </a:r>
            <a:endParaRPr lang="zh-CN" altLang="en-US" sz="40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03200" y="840740"/>
            <a:ext cx="1500505" cy="368300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bg1"/>
                </a:solidFill>
              </a:rPr>
              <a:t>管理工具</a:t>
            </a:r>
            <a:endParaRPr lang="zh-CN" altLang="en-US" b="1">
              <a:solidFill>
                <a:schemeClr val="bg1"/>
              </a:solidFill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200" y="1316990"/>
            <a:ext cx="1903095" cy="1384935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2264410" y="1202690"/>
            <a:ext cx="9665970" cy="33718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bg1"/>
                </a:solidFill>
              </a:rPr>
              <a:t>①数据收集、提报</a:t>
            </a:r>
            <a:r>
              <a:rPr lang="en-US" altLang="zh-CN" sz="1600">
                <a:solidFill>
                  <a:schemeClr val="bg1"/>
                </a:solidFill>
              </a:rPr>
              <a:t>              </a:t>
            </a:r>
            <a:r>
              <a:rPr lang="zh-CN" altLang="en-US" sz="1600">
                <a:solidFill>
                  <a:schemeClr val="bg1"/>
                </a:solidFill>
                <a:sym typeface="+mn-ea"/>
              </a:rPr>
              <a:t>②</a:t>
            </a:r>
            <a:r>
              <a:rPr lang="zh-CN" altLang="en-US" sz="1600">
                <a:solidFill>
                  <a:schemeClr val="bg1"/>
                </a:solidFill>
                <a:sym typeface="+mn-ea"/>
              </a:rPr>
              <a:t>自动化消息推动</a:t>
            </a:r>
            <a:r>
              <a:rPr lang="en-US" altLang="zh-CN" sz="1600">
                <a:solidFill>
                  <a:schemeClr val="bg1"/>
                </a:solidFill>
                <a:sym typeface="+mn-ea"/>
              </a:rPr>
              <a:t>               </a:t>
            </a:r>
            <a:r>
              <a:rPr lang="zh-CN" altLang="en-US" sz="1600">
                <a:solidFill>
                  <a:schemeClr val="bg1"/>
                </a:solidFill>
                <a:sym typeface="+mn-ea"/>
              </a:rPr>
              <a:t>③</a:t>
            </a:r>
            <a:r>
              <a:rPr lang="zh-CN" altLang="en-US" sz="1600">
                <a:solidFill>
                  <a:schemeClr val="bg1"/>
                </a:solidFill>
                <a:sym typeface="+mn-ea"/>
              </a:rPr>
              <a:t>权限隔离</a:t>
            </a:r>
            <a:r>
              <a:rPr lang="en-US" altLang="zh-CN" sz="1600">
                <a:solidFill>
                  <a:schemeClr val="bg1"/>
                </a:solidFill>
                <a:sym typeface="+mn-ea"/>
              </a:rPr>
              <a:t>                  </a:t>
            </a:r>
            <a:r>
              <a:rPr lang="zh-CN" altLang="en-US" sz="1600">
                <a:solidFill>
                  <a:schemeClr val="bg1"/>
                </a:solidFill>
                <a:sym typeface="+mn-ea"/>
              </a:rPr>
              <a:t>④</a:t>
            </a:r>
            <a:r>
              <a:rPr lang="zh-CN" altLang="en-US" sz="1600">
                <a:solidFill>
                  <a:schemeClr val="bg1"/>
                </a:solidFill>
                <a:sym typeface="+mn-ea"/>
              </a:rPr>
              <a:t>内部看板配置</a:t>
            </a:r>
            <a:endParaRPr lang="zh-CN" altLang="en-US" sz="1600">
              <a:solidFill>
                <a:schemeClr val="bg1"/>
              </a:solidFill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59715" y="3057525"/>
            <a:ext cx="2966720" cy="462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03200" y="3027680"/>
            <a:ext cx="1500505" cy="368300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bg1"/>
                </a:solidFill>
              </a:rPr>
              <a:t>过程管控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201545" y="77279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使用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钉钉文档</a:t>
            </a:r>
            <a:r>
              <a:rPr lang="zh-CN" altLang="en-US">
                <a:sym typeface="+mn-ea"/>
              </a:rPr>
              <a:t>，覆盖</a:t>
            </a:r>
            <a:r>
              <a:rPr lang="en-US" altLang="zh-CN">
                <a:sym typeface="+mn-ea"/>
              </a:rPr>
              <a:t>14</a:t>
            </a:r>
            <a:r>
              <a:rPr lang="zh-CN" altLang="en-US">
                <a:sym typeface="+mn-ea"/>
              </a:rPr>
              <a:t>个专项的目标、计划、考核管理。</a:t>
            </a:r>
            <a:endParaRPr lang="zh-CN" altLang="en-US">
              <a:sym typeface="+mn-ea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569595" y="3973830"/>
            <a:ext cx="1399540" cy="34353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/>
              <a:t>①进度</a:t>
            </a:r>
            <a:r>
              <a:rPr lang="zh-CN" altLang="en-US" sz="1600"/>
              <a:t>可控</a:t>
            </a:r>
            <a:endParaRPr lang="zh-CN" altLang="en-US" sz="1600"/>
          </a:p>
        </p:txBody>
      </p:sp>
      <p:sp>
        <p:nvSpPr>
          <p:cNvPr id="25" name="圆角矩形 24"/>
          <p:cNvSpPr/>
          <p:nvPr/>
        </p:nvSpPr>
        <p:spPr>
          <a:xfrm>
            <a:off x="4822190" y="3973830"/>
            <a:ext cx="1437005" cy="34353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/>
              <a:t>②质量</a:t>
            </a:r>
            <a:r>
              <a:rPr lang="zh-CN" altLang="en-US" sz="1600"/>
              <a:t>可视</a:t>
            </a:r>
            <a:endParaRPr lang="zh-CN" altLang="en-US" sz="1600"/>
          </a:p>
        </p:txBody>
      </p:sp>
      <p:sp>
        <p:nvSpPr>
          <p:cNvPr id="26" name="圆角矩形 25"/>
          <p:cNvSpPr/>
          <p:nvPr/>
        </p:nvSpPr>
        <p:spPr>
          <a:xfrm>
            <a:off x="8549640" y="3973830"/>
            <a:ext cx="1395095" cy="34353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/>
              <a:t>③成本可</a:t>
            </a:r>
            <a:r>
              <a:rPr lang="zh-CN" altLang="en-US" sz="1600"/>
              <a:t>测</a:t>
            </a:r>
            <a:endParaRPr lang="zh-CN" altLang="en-US" sz="1600"/>
          </a:p>
        </p:txBody>
      </p:sp>
      <p:sp>
        <p:nvSpPr>
          <p:cNvPr id="27" name="文本框 26"/>
          <p:cNvSpPr txBox="1"/>
          <p:nvPr/>
        </p:nvSpPr>
        <p:spPr>
          <a:xfrm>
            <a:off x="203200" y="5334635"/>
            <a:ext cx="1500505" cy="368300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bg1"/>
                </a:solidFill>
              </a:rPr>
              <a:t>结果呈现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201295" y="5823585"/>
            <a:ext cx="91954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内部看板：钉钉文档，对内，服务人群：专项管理人员（非项目</a:t>
            </a:r>
            <a:r>
              <a:rPr lang="zh-CN" altLang="en-US"/>
              <a:t>成员）</a:t>
            </a:r>
            <a:endParaRPr lang="zh-CN" altLang="en-US"/>
          </a:p>
          <a:p>
            <a:r>
              <a:rPr lang="zh-CN" altLang="en-US"/>
              <a:t>外部看板：手机看板，对外，服务人员：董事长</a:t>
            </a:r>
            <a:r>
              <a:rPr lang="en-US" altLang="zh-CN"/>
              <a:t>+</a:t>
            </a:r>
            <a:r>
              <a:rPr lang="zh-CN" altLang="en-US"/>
              <a:t>公司领导</a:t>
            </a:r>
            <a:endParaRPr lang="zh-CN" altLang="en-US"/>
          </a:p>
        </p:txBody>
      </p:sp>
      <p:cxnSp>
        <p:nvCxnSpPr>
          <p:cNvPr id="29" name="直接连接符 28"/>
          <p:cNvCxnSpPr/>
          <p:nvPr/>
        </p:nvCxnSpPr>
        <p:spPr>
          <a:xfrm>
            <a:off x="201295" y="2924810"/>
            <a:ext cx="11730355" cy="0"/>
          </a:xfrm>
          <a:prstGeom prst="line">
            <a:avLst/>
          </a:prstGeom>
          <a:ln w="28575" cmpd="sng">
            <a:solidFill>
              <a:schemeClr val="bg2">
                <a:lumMod val="9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213995" y="5280660"/>
            <a:ext cx="11717655" cy="0"/>
          </a:xfrm>
          <a:prstGeom prst="line">
            <a:avLst/>
          </a:prstGeom>
          <a:ln w="28575" cmpd="sng">
            <a:solidFill>
              <a:schemeClr val="bg2">
                <a:lumMod val="9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矩形 30"/>
          <p:cNvSpPr/>
          <p:nvPr/>
        </p:nvSpPr>
        <p:spPr>
          <a:xfrm>
            <a:off x="2056765" y="3187700"/>
            <a:ext cx="2707005" cy="3028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专项整体进度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2056765" y="4144645"/>
            <a:ext cx="2707005" cy="3282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600">
                <a:solidFill>
                  <a:schemeClr val="tx1"/>
                </a:solidFill>
                <a:sym typeface="+mn-ea"/>
              </a:rPr>
              <a:t>一二级计划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完成度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2056765" y="3501390"/>
            <a:ext cx="2706370" cy="521970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>
                <a:solidFill>
                  <a:schemeClr val="tx2"/>
                </a:solidFill>
              </a:rPr>
              <a:t>每月计算专项年度目标的完成进度</a:t>
            </a:r>
            <a:endParaRPr lang="en-US" altLang="zh-CN" sz="1400">
              <a:solidFill>
                <a:schemeClr val="tx2"/>
              </a:solidFill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2056765" y="4481830"/>
            <a:ext cx="2706370" cy="521970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>
                <a:solidFill>
                  <a:schemeClr val="tx2"/>
                </a:solidFill>
              </a:rPr>
              <a:t>每月跟踪既定一二级计划的实施进展</a:t>
            </a:r>
            <a:r>
              <a:rPr lang="en-US" altLang="zh-CN" sz="1400">
                <a:solidFill>
                  <a:schemeClr val="tx2"/>
                </a:solidFill>
              </a:rPr>
              <a:t>--</a:t>
            </a:r>
            <a:r>
              <a:rPr lang="zh-CN" altLang="en-US" sz="1400">
                <a:solidFill>
                  <a:schemeClr val="tx2"/>
                </a:solidFill>
              </a:rPr>
              <a:t>上报</a:t>
            </a:r>
            <a:r>
              <a:rPr lang="en-US" altLang="zh-CN" sz="1400">
                <a:solidFill>
                  <a:schemeClr val="tx2"/>
                </a:solidFill>
              </a:rPr>
              <a:t>+</a:t>
            </a:r>
            <a:r>
              <a:rPr lang="zh-CN" altLang="en-US" sz="1400">
                <a:solidFill>
                  <a:schemeClr val="tx2"/>
                </a:solidFill>
              </a:rPr>
              <a:t>抽检</a:t>
            </a:r>
            <a:endParaRPr lang="zh-CN" altLang="en-US" sz="1400">
              <a:solidFill>
                <a:schemeClr val="tx2"/>
              </a:solidFill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6288405" y="3146425"/>
            <a:ext cx="2186305" cy="3028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专项健康度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6287770" y="3480435"/>
            <a:ext cx="2186305" cy="1589405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noAutofit/>
          </a:bodyPr>
          <a:p>
            <a:pPr indent="0">
              <a:buFont typeface="Arial" panose="020B0604020202020204" pitchFamily="34" charset="0"/>
              <a:buNone/>
            </a:pPr>
            <a:r>
              <a:rPr lang="zh-CN" altLang="en-US" sz="1400">
                <a:solidFill>
                  <a:schemeClr val="tx2"/>
                </a:solidFill>
              </a:rPr>
              <a:t>以下维度测算专项</a:t>
            </a:r>
            <a:r>
              <a:rPr lang="zh-CN" altLang="en-US" sz="1400">
                <a:solidFill>
                  <a:schemeClr val="tx2"/>
                </a:solidFill>
              </a:rPr>
              <a:t>健康度：</a:t>
            </a:r>
            <a:endParaRPr lang="zh-CN" altLang="en-US" sz="140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>
                <a:solidFill>
                  <a:schemeClr val="tx2"/>
                </a:solidFill>
              </a:rPr>
              <a:t>月度目标</a:t>
            </a:r>
            <a:r>
              <a:rPr lang="zh-CN" altLang="en-US" sz="1400">
                <a:solidFill>
                  <a:schemeClr val="tx2"/>
                </a:solidFill>
              </a:rPr>
              <a:t>达成</a:t>
            </a:r>
            <a:endParaRPr lang="zh-CN" altLang="en-US" sz="140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>
                <a:solidFill>
                  <a:schemeClr val="tx2"/>
                </a:solidFill>
              </a:rPr>
              <a:t>一二级计划</a:t>
            </a:r>
            <a:r>
              <a:rPr lang="zh-CN" altLang="en-US" sz="1400">
                <a:solidFill>
                  <a:schemeClr val="tx2"/>
                </a:solidFill>
              </a:rPr>
              <a:t>完成</a:t>
            </a:r>
            <a:endParaRPr lang="zh-CN" altLang="en-US" sz="140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>
                <a:solidFill>
                  <a:schemeClr val="tx2"/>
                </a:solidFill>
              </a:rPr>
              <a:t>专项总结</a:t>
            </a:r>
            <a:endParaRPr lang="zh-CN" altLang="en-US" sz="1400">
              <a:solidFill>
                <a:schemeClr val="tx2"/>
              </a:solidFill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zh-CN" altLang="en-US" sz="1400">
                <a:solidFill>
                  <a:schemeClr val="tx2"/>
                </a:solidFill>
              </a:rPr>
              <a:t>依据得分置健康、需关注、高风险项，非健康专项需要</a:t>
            </a:r>
            <a:r>
              <a:rPr lang="zh-CN" altLang="en-US" sz="1400">
                <a:solidFill>
                  <a:schemeClr val="tx2"/>
                </a:solidFill>
              </a:rPr>
              <a:t>向公司领导专项</a:t>
            </a:r>
            <a:r>
              <a:rPr lang="zh-CN" altLang="en-US" sz="1400">
                <a:solidFill>
                  <a:schemeClr val="tx2"/>
                </a:solidFill>
              </a:rPr>
              <a:t>汇报</a:t>
            </a:r>
            <a:endParaRPr lang="zh-CN" altLang="en-US" sz="1400">
              <a:solidFill>
                <a:schemeClr val="tx2"/>
              </a:solidFill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10037445" y="3146425"/>
            <a:ext cx="1898015" cy="3028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人力投入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0036810" y="3505835"/>
            <a:ext cx="1894205" cy="550545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>
                <a:solidFill>
                  <a:schemeClr val="tx2"/>
                </a:solidFill>
              </a:rPr>
              <a:t>专项</a:t>
            </a:r>
            <a:r>
              <a:rPr lang="zh-CN" altLang="en-US" sz="1400">
                <a:solidFill>
                  <a:schemeClr val="tx2"/>
                </a:solidFill>
              </a:rPr>
              <a:t>投入具体到人</a:t>
            </a:r>
            <a:endParaRPr lang="zh-CN" altLang="en-US" sz="1400">
              <a:solidFill>
                <a:schemeClr val="tx2"/>
              </a:solidFill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10036810" y="4194175"/>
            <a:ext cx="1904365" cy="3028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绩效核算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0036810" y="4531360"/>
            <a:ext cx="1908175" cy="550545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>
                <a:solidFill>
                  <a:schemeClr val="tx2"/>
                </a:solidFill>
              </a:rPr>
              <a:t>每月根据激励规则实施</a:t>
            </a:r>
            <a:r>
              <a:rPr lang="zh-CN" altLang="en-US" sz="1400">
                <a:solidFill>
                  <a:schemeClr val="tx2"/>
                </a:solidFill>
              </a:rPr>
              <a:t>奖惩</a:t>
            </a:r>
            <a:endParaRPr lang="zh-CN" altLang="en-US" sz="1400">
              <a:solidFill>
                <a:schemeClr val="tx2"/>
              </a:solidFill>
            </a:endParaRPr>
          </a:p>
        </p:txBody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6720" y="1567815"/>
            <a:ext cx="2613660" cy="1120775"/>
          </a:xfrm>
          <a:prstGeom prst="rect">
            <a:avLst/>
          </a:prstGeom>
        </p:spPr>
      </p:pic>
      <p:graphicFrame>
        <p:nvGraphicFramePr>
          <p:cNvPr id="47" name="表格 46"/>
          <p:cNvGraphicFramePr/>
          <p:nvPr>
            <p:custDataLst>
              <p:tags r:id="rId3"/>
            </p:custDataLst>
          </p:nvPr>
        </p:nvGraphicFramePr>
        <p:xfrm>
          <a:off x="6744970" y="1582420"/>
          <a:ext cx="2343785" cy="1097280"/>
        </p:xfrm>
        <a:graphic>
          <a:graphicData uri="http://schemas.openxmlformats.org/drawingml/2006/table">
            <a:tbl>
              <a:tblPr firstRow="1">
                <a:tableStyleId>{C083E6E3-FA7D-4D7B-A595-EF9225AFEA82}</a:tableStyleId>
              </a:tblPr>
              <a:tblGrid>
                <a:gridCol w="1072515"/>
                <a:gridCol w="1271270"/>
              </a:tblGrid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角色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权限</a:t>
                      </a:r>
                      <a:endParaRPr lang="zh-CN" altLang="en-US" sz="1200"/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公司领导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所有专项</a:t>
                      </a:r>
                      <a:endParaRPr lang="zh-CN" altLang="en-US" sz="1200"/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专项负责人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所负责专项</a:t>
                      </a:r>
                      <a:endParaRPr lang="zh-CN" altLang="en-US" sz="1200"/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指标管理人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所负责指标</a:t>
                      </a:r>
                      <a:endParaRPr lang="zh-CN" altLang="en-US" sz="120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0" name="图片 4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5045" y="1611630"/>
            <a:ext cx="4316730" cy="1081405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6040" y="2223135"/>
            <a:ext cx="1421765" cy="43561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381115" y="6229350"/>
            <a:ext cx="20199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14</a:t>
            </a:r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206375" y="133350"/>
            <a:ext cx="10244455" cy="721360"/>
          </a:xfrm>
        </p:spPr>
        <p:txBody>
          <a:bodyPr>
            <a:normAutofit fontScale="90000"/>
          </a:bodyPr>
          <a:lstStyle/>
          <a:p>
            <a:r>
              <a:rPr lang="zh-CN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健康度</a:t>
            </a:r>
            <a:r>
              <a:rPr lang="zh-CN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评分</a:t>
            </a:r>
            <a:endParaRPr lang="zh-CN" altLang="en-US" sz="40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graphicFrame>
        <p:nvGraphicFramePr>
          <p:cNvPr id="21" name="表格 20"/>
          <p:cNvGraphicFramePr/>
          <p:nvPr>
            <p:custDataLst>
              <p:tags r:id="rId1"/>
            </p:custDataLst>
          </p:nvPr>
        </p:nvGraphicFramePr>
        <p:xfrm>
          <a:off x="328930" y="3277870"/>
          <a:ext cx="949198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4655"/>
                <a:gridCol w="1120775"/>
                <a:gridCol w="6686550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评估类别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分</a:t>
                      </a:r>
                      <a:r>
                        <a:rPr lang="zh-CN" altLang="en-US"/>
                        <a:t>值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赋分规则（</a:t>
                      </a:r>
                      <a:r>
                        <a:rPr lang="zh-CN" altLang="en-US" sz="1800">
                          <a:sym typeface="+mn-ea"/>
                        </a:rPr>
                        <a:t>月度）</a:t>
                      </a:r>
                      <a:endParaRPr lang="zh-CN" altLang="en-US"/>
                    </a:p>
                  </a:txBody>
                  <a:tcPr/>
                </a:tc>
              </a:tr>
              <a:tr h="9144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目标达成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80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800">
                          <a:sym typeface="+mn-ea"/>
                        </a:rPr>
                        <a:t>月度目标达成率</a:t>
                      </a:r>
                      <a:r>
                        <a:rPr lang="en-US" altLang="zh-CN" sz="1800">
                          <a:sym typeface="+mn-ea"/>
                        </a:rPr>
                        <a:t> </a:t>
                      </a:r>
                      <a:r>
                        <a:rPr lang="zh-CN" altLang="en-US" sz="1800">
                          <a:sym typeface="+mn-ea"/>
                        </a:rPr>
                        <a:t>：</a:t>
                      </a:r>
                      <a:r>
                        <a:rPr lang="en-US" altLang="zh-CN" sz="1800">
                          <a:sym typeface="+mn-ea"/>
                        </a:rPr>
                        <a:t>150%</a:t>
                      </a:r>
                      <a:r>
                        <a:rPr lang="zh-CN" altLang="en-US" sz="1800">
                          <a:sym typeface="+mn-ea"/>
                        </a:rPr>
                        <a:t>以上，</a:t>
                      </a:r>
                      <a:r>
                        <a:rPr lang="en-US" altLang="zh-CN" sz="1800">
                          <a:sym typeface="+mn-ea"/>
                        </a:rPr>
                        <a:t>80</a:t>
                      </a:r>
                      <a:r>
                        <a:rPr lang="zh-CN" altLang="en-US" sz="1800">
                          <a:sym typeface="+mn-ea"/>
                        </a:rPr>
                        <a:t>分</a:t>
                      </a:r>
                      <a:endParaRPr lang="zh-CN" altLang="en-US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800">
                          <a:sym typeface="+mn-ea"/>
                        </a:rPr>
                        <a:t>月度目标</a:t>
                      </a:r>
                      <a:r>
                        <a:rPr lang="zh-CN" altLang="en-US"/>
                        <a:t>达成率</a:t>
                      </a:r>
                      <a:r>
                        <a:rPr lang="en-US" altLang="zh-CN"/>
                        <a:t> </a:t>
                      </a:r>
                      <a:r>
                        <a:rPr lang="zh-CN" altLang="en-US" sz="1800">
                          <a:sym typeface="+mn-ea"/>
                        </a:rPr>
                        <a:t>：</a:t>
                      </a:r>
                      <a:r>
                        <a:rPr lang="en-US" altLang="zh-CN"/>
                        <a:t>100%~150%</a:t>
                      </a:r>
                      <a:r>
                        <a:rPr lang="zh-CN" altLang="en-US"/>
                        <a:t>，</a:t>
                      </a:r>
                      <a:r>
                        <a:rPr lang="en-US" altLang="zh-CN"/>
                        <a:t>60~80</a:t>
                      </a:r>
                      <a:r>
                        <a:rPr lang="zh-CN" altLang="en-US" sz="1800">
                          <a:sym typeface="+mn-ea"/>
                        </a:rPr>
                        <a:t>线性</a:t>
                      </a:r>
                      <a:r>
                        <a:rPr lang="zh-CN" altLang="en-US"/>
                        <a:t>赋分</a:t>
                      </a:r>
                      <a:endParaRPr lang="en-US" altLang="zh-CN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800">
                          <a:sym typeface="+mn-ea"/>
                        </a:rPr>
                        <a:t>月度目标达成率</a:t>
                      </a:r>
                      <a:r>
                        <a:rPr lang="en-US" altLang="zh-CN" sz="1800">
                          <a:sym typeface="+mn-ea"/>
                        </a:rPr>
                        <a:t> </a:t>
                      </a:r>
                      <a:r>
                        <a:rPr lang="zh-CN" altLang="en-US" sz="1800">
                          <a:sym typeface="+mn-ea"/>
                        </a:rPr>
                        <a:t>：</a:t>
                      </a:r>
                      <a:r>
                        <a:rPr lang="en-US" altLang="zh-CN" sz="1800">
                          <a:sym typeface="+mn-ea"/>
                        </a:rPr>
                        <a:t>50%~100%</a:t>
                      </a:r>
                      <a:r>
                        <a:rPr lang="zh-CN" altLang="en-US" sz="1800">
                          <a:sym typeface="+mn-ea"/>
                        </a:rPr>
                        <a:t>，</a:t>
                      </a:r>
                      <a:r>
                        <a:rPr lang="en-US" altLang="zh-CN" sz="1800">
                          <a:sym typeface="+mn-ea"/>
                        </a:rPr>
                        <a:t>4</a:t>
                      </a:r>
                      <a:r>
                        <a:rPr lang="en-US" altLang="zh-CN" sz="1800">
                          <a:sym typeface="+mn-ea"/>
                        </a:rPr>
                        <a:t>0~60</a:t>
                      </a:r>
                      <a:r>
                        <a:rPr lang="zh-CN" altLang="en-US" sz="1800">
                          <a:sym typeface="+mn-ea"/>
                        </a:rPr>
                        <a:t>线性赋分</a:t>
                      </a:r>
                      <a:endParaRPr lang="zh-CN" altLang="en-US" sz="1800">
                        <a:sym typeface="+mn-ea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800">
                          <a:sym typeface="+mn-ea"/>
                        </a:rPr>
                        <a:t>月度目标达成率</a:t>
                      </a:r>
                      <a:r>
                        <a:rPr lang="en-US" altLang="zh-CN" sz="1800">
                          <a:sym typeface="+mn-ea"/>
                        </a:rPr>
                        <a:t> </a:t>
                      </a:r>
                      <a:r>
                        <a:rPr lang="zh-CN" altLang="en-US" sz="1800">
                          <a:sym typeface="+mn-ea"/>
                        </a:rPr>
                        <a:t>：</a:t>
                      </a:r>
                      <a:r>
                        <a:rPr lang="en-US" altLang="zh-CN" sz="1800">
                          <a:sym typeface="+mn-ea"/>
                        </a:rPr>
                        <a:t>50%</a:t>
                      </a:r>
                      <a:r>
                        <a:rPr lang="zh-CN" altLang="en-US" sz="1800">
                          <a:sym typeface="+mn-ea"/>
                        </a:rPr>
                        <a:t>以下，</a:t>
                      </a:r>
                      <a:r>
                        <a:rPr lang="en-US" altLang="zh-CN" sz="1800">
                          <a:sym typeface="+mn-ea"/>
                        </a:rPr>
                        <a:t>0</a:t>
                      </a:r>
                      <a:r>
                        <a:rPr lang="en-US" altLang="zh-CN" sz="1800">
                          <a:sym typeface="+mn-ea"/>
                        </a:rPr>
                        <a:t>~40</a:t>
                      </a:r>
                      <a:r>
                        <a:rPr lang="zh-CN" altLang="en-US" sz="1800">
                          <a:sym typeface="+mn-ea"/>
                        </a:rPr>
                        <a:t>线性赋分</a:t>
                      </a:r>
                      <a:endParaRPr lang="en-US" altLang="zh-CN"/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计划执行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800">
                          <a:sym typeface="+mn-ea"/>
                        </a:rPr>
                        <a:t>完成率</a:t>
                      </a:r>
                      <a:r>
                        <a:rPr lang="en-US" altLang="zh-CN" sz="1800">
                          <a:sym typeface="+mn-ea"/>
                        </a:rPr>
                        <a:t>*100</a:t>
                      </a:r>
                      <a:r>
                        <a:rPr lang="zh-CN" altLang="en-US" sz="1800">
                          <a:sym typeface="+mn-ea"/>
                        </a:rPr>
                        <a:t>赋分，完成率</a:t>
                      </a:r>
                      <a:r>
                        <a:rPr lang="en-US" altLang="zh-CN" sz="1800">
                          <a:sym typeface="+mn-ea"/>
                        </a:rPr>
                        <a:t>=</a:t>
                      </a:r>
                      <a:r>
                        <a:rPr lang="zh-CN" altLang="en-US" sz="1800">
                          <a:sym typeface="+mn-ea"/>
                        </a:rPr>
                        <a:t>截至当月已完成数</a:t>
                      </a:r>
                      <a:r>
                        <a:rPr lang="en-US" altLang="zh-CN" sz="1800">
                          <a:sym typeface="+mn-ea"/>
                        </a:rPr>
                        <a:t>/</a:t>
                      </a:r>
                      <a:r>
                        <a:rPr lang="zh-CN" altLang="en-US" sz="1800">
                          <a:sym typeface="+mn-ea"/>
                        </a:rPr>
                        <a:t>应</a:t>
                      </a:r>
                      <a:r>
                        <a:rPr lang="zh-CN" altLang="en-US" sz="1800">
                          <a:sym typeface="+mn-ea"/>
                        </a:rPr>
                        <a:t>完</a:t>
                      </a:r>
                      <a:r>
                        <a:rPr lang="zh-CN" altLang="en-US" sz="1800">
                          <a:sym typeface="+mn-ea"/>
                        </a:rPr>
                        <a:t>成数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11887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项目运作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>
                        <a:buFont typeface="Arial" panose="020B0604020202020204" pitchFamily="34" charset="0"/>
                        <a:buNone/>
                      </a:pPr>
                      <a:r>
                        <a:rPr lang="zh-CN" altLang="en-US"/>
                        <a:t>月度计划分解</a:t>
                      </a:r>
                      <a:r>
                        <a:rPr lang="en-US" altLang="zh-CN"/>
                        <a:t>+</a:t>
                      </a:r>
                      <a:r>
                        <a:rPr lang="zh-CN" altLang="en-US"/>
                        <a:t>月度总结报告</a:t>
                      </a:r>
                      <a:r>
                        <a:rPr lang="en-US" altLang="zh-CN"/>
                        <a:t>+</a:t>
                      </a:r>
                      <a:r>
                        <a:rPr lang="zh-CN" altLang="en-US"/>
                        <a:t>月度数据</a:t>
                      </a:r>
                      <a:r>
                        <a:rPr lang="zh-CN" altLang="en-US"/>
                        <a:t>反馈</a:t>
                      </a:r>
                      <a:endParaRPr lang="zh-CN" altLang="en-US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/>
                        <a:t>全部完成：</a:t>
                      </a:r>
                      <a:r>
                        <a:rPr lang="en-US" altLang="zh-CN"/>
                        <a:t>10</a:t>
                      </a:r>
                      <a:endParaRPr lang="en-US" altLang="zh-CN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/>
                        <a:t>有一项延时完成：</a:t>
                      </a:r>
                      <a:r>
                        <a:rPr lang="en-US" altLang="zh-CN"/>
                        <a:t>5</a:t>
                      </a:r>
                      <a:endParaRPr lang="en-US" altLang="zh-CN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/>
                        <a:t>有一项未完成：</a:t>
                      </a: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32" name="文本框 31"/>
          <p:cNvSpPr txBox="1"/>
          <p:nvPr/>
        </p:nvSpPr>
        <p:spPr>
          <a:xfrm>
            <a:off x="276860" y="828675"/>
            <a:ext cx="9141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单指标赋分规则，单个专项的健康度得分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该专项所有指标的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健康度得分平均值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36" name="表格 35"/>
          <p:cNvGraphicFramePr/>
          <p:nvPr/>
        </p:nvGraphicFramePr>
        <p:xfrm>
          <a:off x="3393440" y="1255395"/>
          <a:ext cx="446405" cy="17329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405"/>
              </a:tblGrid>
              <a:tr h="17329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专项</a:t>
                      </a:r>
                      <a:r>
                        <a:rPr lang="zh-CN" altLang="en-US"/>
                        <a:t>得分</a:t>
                      </a:r>
                      <a:endParaRPr lang="zh-CN" altLang="en-US"/>
                    </a:p>
                  </a:txBody>
                  <a:tcPr anchor="ctr" anchorCtr="0"/>
                </a:tc>
              </a:tr>
            </a:tbl>
          </a:graphicData>
        </a:graphic>
      </p:graphicFrame>
      <p:graphicFrame>
        <p:nvGraphicFramePr>
          <p:cNvPr id="38" name="表格 37"/>
          <p:cNvGraphicFramePr/>
          <p:nvPr/>
        </p:nvGraphicFramePr>
        <p:xfrm>
          <a:off x="328295" y="1261745"/>
          <a:ext cx="2299970" cy="17322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99970"/>
              </a:tblGrid>
              <a:tr h="4330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目标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：健康度得分</a:t>
                      </a: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 anchor="ctr" anchorCtr="0"/>
                </a:tc>
              </a:tr>
              <a:tr h="4330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目标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：健康度得分</a:t>
                      </a: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 anchor="ctr" anchorCtr="0"/>
                </a:tc>
              </a:tr>
              <a:tr h="4330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目标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：健康度得分</a:t>
                      </a: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 anchor="ctr" anchorCtr="0"/>
                </a:tc>
              </a:tr>
              <a:tr h="4330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目标</a:t>
                      </a:r>
                      <a:r>
                        <a:rPr lang="en-US" altLang="zh-CN"/>
                        <a:t>4</a:t>
                      </a:r>
                      <a:r>
                        <a:rPr lang="zh-CN" altLang="en-US"/>
                        <a:t>：健康度得分</a:t>
                      </a: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 anchor="ctr" anchorCtr="0"/>
                </a:tc>
              </a:tr>
            </a:tbl>
          </a:graphicData>
        </a:graphic>
      </p:graphicFrame>
      <p:cxnSp>
        <p:nvCxnSpPr>
          <p:cNvPr id="46" name="直接箭头连接符 45"/>
          <p:cNvCxnSpPr/>
          <p:nvPr/>
        </p:nvCxnSpPr>
        <p:spPr>
          <a:xfrm>
            <a:off x="2630805" y="2264410"/>
            <a:ext cx="723900" cy="0"/>
          </a:xfrm>
          <a:prstGeom prst="straightConnector1">
            <a:avLst/>
          </a:prstGeom>
          <a:ln>
            <a:solidFill>
              <a:schemeClr val="accent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/>
          <p:cNvSpPr txBox="1"/>
          <p:nvPr/>
        </p:nvSpPr>
        <p:spPr>
          <a:xfrm>
            <a:off x="2562225" y="1845310"/>
            <a:ext cx="10991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平均值</a:t>
            </a:r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52" name="直接箭头连接符 51"/>
          <p:cNvCxnSpPr/>
          <p:nvPr/>
        </p:nvCxnSpPr>
        <p:spPr>
          <a:xfrm>
            <a:off x="3874135" y="2264410"/>
            <a:ext cx="616585" cy="0"/>
          </a:xfrm>
          <a:prstGeom prst="straightConnector1">
            <a:avLst/>
          </a:prstGeom>
          <a:ln>
            <a:solidFill>
              <a:schemeClr val="accent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/>
          <p:cNvSpPr txBox="1"/>
          <p:nvPr/>
        </p:nvSpPr>
        <p:spPr>
          <a:xfrm>
            <a:off x="3874135" y="1845310"/>
            <a:ext cx="10991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等级</a:t>
            </a:r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54" name="表格 53"/>
          <p:cNvGraphicFramePr/>
          <p:nvPr/>
        </p:nvGraphicFramePr>
        <p:xfrm>
          <a:off x="4567555" y="1261745"/>
          <a:ext cx="7255510" cy="16935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300"/>
                <a:gridCol w="1348105"/>
                <a:gridCol w="4650105"/>
              </a:tblGrid>
              <a:tr h="4184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得分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等级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对应场景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4375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&gt;=80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rgbClr val="00B050"/>
                          </a:solidFill>
                          <a:sym typeface="Wingdings" panose="05000000000000000000" charset="0"/>
                        </a:rPr>
                        <a:t></a:t>
                      </a:r>
                      <a:r>
                        <a:rPr lang="en-US" altLang="zh-CN">
                          <a:solidFill>
                            <a:srgbClr val="00B050"/>
                          </a:solidFill>
                          <a:sym typeface="Wingdings" panose="05000000000000000000" charset="0"/>
                        </a:rPr>
                        <a:t> </a:t>
                      </a:r>
                      <a:r>
                        <a:rPr lang="zh-CN" altLang="en-US">
                          <a:solidFill>
                            <a:srgbClr val="00B050"/>
                          </a:solidFill>
                        </a:rPr>
                        <a:t>健康</a:t>
                      </a:r>
                      <a:endParaRPr lang="zh-CN" altLang="en-US">
                        <a:solidFill>
                          <a:srgbClr val="00B05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/>
                        <a:t>目标达成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4191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[ 60</a:t>
                      </a:r>
                      <a:r>
                        <a:rPr lang="zh-CN" altLang="en-US"/>
                        <a:t>，</a:t>
                      </a:r>
                      <a:r>
                        <a:rPr lang="en-US" altLang="zh-CN"/>
                        <a:t>80 )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olidFill>
                            <a:schemeClr val="accent2"/>
                          </a:solidFill>
                          <a:sym typeface="Wingdings" panose="05000000000000000000" charset="0"/>
                        </a:rPr>
                        <a:t></a:t>
                      </a:r>
                      <a:r>
                        <a:rPr lang="en-US" altLang="zh-CN" sz="1800">
                          <a:solidFill>
                            <a:schemeClr val="accent2"/>
                          </a:solidFill>
                          <a:sym typeface="Wingdings" panose="05000000000000000000" charset="0"/>
                        </a:rPr>
                        <a:t> </a:t>
                      </a:r>
                      <a:r>
                        <a:rPr lang="zh-CN" altLang="en-US">
                          <a:solidFill>
                            <a:schemeClr val="accent2"/>
                          </a:solidFill>
                        </a:rPr>
                        <a:t>需关注</a:t>
                      </a:r>
                      <a:endParaRPr lang="zh-CN" altLang="en-US">
                        <a:solidFill>
                          <a:schemeClr val="accent2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/>
                        <a:t>目标达成</a:t>
                      </a:r>
                      <a:r>
                        <a:rPr lang="en-US" altLang="zh-CN"/>
                        <a:t>50%</a:t>
                      </a:r>
                      <a:r>
                        <a:rPr lang="zh-CN" altLang="en-US"/>
                        <a:t>及以上</a:t>
                      </a:r>
                      <a:r>
                        <a:rPr lang="en-US" altLang="zh-CN"/>
                        <a:t>+</a:t>
                      </a:r>
                      <a:r>
                        <a:rPr lang="zh-CN" altLang="en-US"/>
                        <a:t>运作</a:t>
                      </a:r>
                      <a:r>
                        <a:rPr lang="en-US" altLang="zh-CN"/>
                        <a:t>/</a:t>
                      </a:r>
                      <a:r>
                        <a:rPr lang="zh-CN" altLang="en-US"/>
                        <a:t>计划全部</a:t>
                      </a:r>
                      <a:r>
                        <a:rPr lang="zh-CN" altLang="en-US"/>
                        <a:t>执行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4184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&lt;60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olidFill>
                            <a:srgbClr val="FF0000"/>
                          </a:solidFill>
                          <a:sym typeface="Wingdings" panose="05000000000000000000" charset="0"/>
                        </a:rPr>
                        <a:t></a:t>
                      </a:r>
                      <a:r>
                        <a:rPr lang="en-US" altLang="zh-CN" sz="1800">
                          <a:solidFill>
                            <a:srgbClr val="FF0000"/>
                          </a:solidFill>
                          <a:sym typeface="Wingdings" panose="05000000000000000000" charset="0"/>
                        </a:rPr>
                        <a:t> </a:t>
                      </a:r>
                      <a:r>
                        <a:rPr lang="zh-CN" altLang="en-US">
                          <a:solidFill>
                            <a:srgbClr val="FF0000"/>
                          </a:solidFill>
                        </a:rPr>
                        <a:t>高风险</a:t>
                      </a:r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/>
                        <a:t>目标达成不足</a:t>
                      </a:r>
                      <a:r>
                        <a:rPr lang="en-US" altLang="zh-CN"/>
                        <a:t>50%</a:t>
                      </a:r>
                      <a:endParaRPr lang="en-US" altLang="zh-CN"/>
                    </a:p>
                  </a:txBody>
                  <a:tcPr anchor="ctr" anchorCtr="0"/>
                </a:tc>
              </a:tr>
            </a:tbl>
          </a:graphicData>
        </a:graphic>
      </p:graphicFrame>
      <p:cxnSp>
        <p:nvCxnSpPr>
          <p:cNvPr id="55" name="直接连接符 54"/>
          <p:cNvCxnSpPr/>
          <p:nvPr/>
        </p:nvCxnSpPr>
        <p:spPr>
          <a:xfrm>
            <a:off x="299085" y="3135630"/>
            <a:ext cx="11532235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下箭头 56"/>
          <p:cNvSpPr/>
          <p:nvPr/>
        </p:nvSpPr>
        <p:spPr>
          <a:xfrm>
            <a:off x="1156335" y="2997835"/>
            <a:ext cx="337185" cy="24193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36220" y="6418580"/>
            <a:ext cx="98094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除健康度评分外，每个专项（及指标）每月计算整体进度，用于呈现年度整体目标的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达成情况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b="17676"/>
          <a:stretch>
            <a:fillRect/>
          </a:stretch>
        </p:blipFill>
        <p:spPr>
          <a:xfrm>
            <a:off x="9911080" y="3282950"/>
            <a:ext cx="1892935" cy="314071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760720" y="5641340"/>
            <a:ext cx="4039870" cy="645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chemeClr val="accent1"/>
                </a:solidFill>
              </a:rPr>
              <a:t>备注：</a:t>
            </a:r>
            <a:endParaRPr lang="zh-CN" altLang="en-US" sz="1200">
              <a:solidFill>
                <a:schemeClr val="accent1"/>
              </a:solidFill>
            </a:endParaRPr>
          </a:p>
          <a:p>
            <a:r>
              <a:rPr lang="en-US" altLang="zh-CN" sz="1200">
                <a:solidFill>
                  <a:schemeClr val="accent1"/>
                </a:solidFill>
              </a:rPr>
              <a:t>1</a:t>
            </a:r>
            <a:r>
              <a:rPr lang="zh-CN" altLang="en-US" sz="1200">
                <a:solidFill>
                  <a:schemeClr val="accent1"/>
                </a:solidFill>
              </a:rPr>
              <a:t>、月度目标一旦达成，当月计划和项目运作自动赋满分</a:t>
            </a:r>
            <a:endParaRPr lang="zh-CN" altLang="en-US" sz="1200">
              <a:solidFill>
                <a:schemeClr val="accent1"/>
              </a:solidFill>
            </a:endParaRPr>
          </a:p>
          <a:p>
            <a:r>
              <a:rPr lang="en-US" altLang="zh-CN" sz="1200">
                <a:solidFill>
                  <a:schemeClr val="accent1"/>
                </a:solidFill>
              </a:rPr>
              <a:t>2</a:t>
            </a:r>
            <a:r>
              <a:rPr lang="zh-CN" altLang="en-US" sz="1200">
                <a:solidFill>
                  <a:schemeClr val="accent1"/>
                </a:solidFill>
              </a:rPr>
              <a:t>、年度目标一旦达成，当月健康度自动赋满分</a:t>
            </a:r>
            <a:endParaRPr lang="zh-CN" altLang="en-US" sz="1200">
              <a:solidFill>
                <a:schemeClr val="accent1"/>
              </a:solidFill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4567555" y="1261745"/>
          <a:ext cx="1257300" cy="419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300"/>
              </a:tblGrid>
              <a:tr h="4191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得分</a:t>
                      </a:r>
                      <a:endParaRPr lang="zh-CN" altLang="en-US"/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206375" y="133350"/>
            <a:ext cx="10244455" cy="721360"/>
          </a:xfrm>
        </p:spPr>
        <p:txBody>
          <a:bodyPr>
            <a:normAutofit fontScale="90000"/>
          </a:bodyPr>
          <a:lstStyle/>
          <a:p>
            <a:r>
              <a:rPr lang="zh-CN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里程碑</a:t>
            </a:r>
            <a:r>
              <a:rPr lang="zh-CN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管理</a:t>
            </a:r>
            <a:endParaRPr lang="zh-CN" altLang="en-US" sz="40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720" y="1069975"/>
            <a:ext cx="9828530" cy="343281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26720" y="4845050"/>
            <a:ext cx="72504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每月收集各专项既定里程碑的完成情况，在看板中</a:t>
            </a:r>
            <a:r>
              <a:rPr lang="zh-CN" altLang="en-US"/>
              <a:t>体现。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206375" y="133350"/>
            <a:ext cx="10244455" cy="721360"/>
          </a:xfrm>
        </p:spPr>
        <p:txBody>
          <a:bodyPr>
            <a:normAutofit fontScale="90000"/>
          </a:bodyPr>
          <a:lstStyle/>
          <a:p>
            <a:r>
              <a:rPr lang="zh-CN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考核应用</a:t>
            </a:r>
            <a:endParaRPr lang="zh-CN" altLang="en-US" sz="40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577715" y="1230630"/>
            <a:ext cx="65538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①根据激励规则设定，提报上月目标达成及考核</a:t>
            </a:r>
            <a:r>
              <a:rPr lang="zh-CN" altLang="en-US"/>
              <a:t>应用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（每月第</a:t>
            </a:r>
            <a:r>
              <a:rPr lang="en-US" altLang="zh-CN">
                <a:solidFill>
                  <a:srgbClr val="FF0000"/>
                </a:solidFill>
              </a:rPr>
              <a:t>1</a:t>
            </a:r>
            <a:r>
              <a:rPr lang="zh-CN" altLang="en-US">
                <a:solidFill>
                  <a:srgbClr val="FF0000"/>
                </a:solidFill>
              </a:rPr>
              <a:t>个工作日）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2996565" y="1191260"/>
            <a:ext cx="1386205" cy="54356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提报</a:t>
            </a:r>
            <a:r>
              <a:rPr lang="zh-CN" altLang="en-US"/>
              <a:t>结果</a:t>
            </a: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997200" y="2221230"/>
            <a:ext cx="1385570" cy="56324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审核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33120" y="1230630"/>
            <a:ext cx="1586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专项</a:t>
            </a:r>
            <a:r>
              <a:rPr lang="zh-CN" altLang="en-US"/>
              <a:t>负责人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89890" y="6001385"/>
            <a:ext cx="107416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如：当月不参与考核计算（如未达到里程碑节点或考核节点），也需要申报，</a:t>
            </a:r>
            <a:r>
              <a:rPr lang="zh-CN" altLang="en-US"/>
              <a:t>说明不涉及</a:t>
            </a:r>
            <a:r>
              <a:rPr lang="zh-CN" altLang="en-US"/>
              <a:t>原因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26110" y="2319020"/>
            <a:ext cx="1793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项目</a:t>
            </a:r>
            <a:r>
              <a:rPr lang="zh-CN" altLang="en-US"/>
              <a:t>管理委员会</a:t>
            </a: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2997200" y="3270885"/>
            <a:ext cx="1385570" cy="56324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报</a:t>
            </a:r>
            <a:r>
              <a:rPr lang="zh-CN" altLang="en-US"/>
              <a:t>领导审批</a:t>
            </a:r>
            <a:endParaRPr lang="zh-CN" altLang="en-US"/>
          </a:p>
        </p:txBody>
      </p:sp>
      <p:cxnSp>
        <p:nvCxnSpPr>
          <p:cNvPr id="11" name="直接箭头连接符 10"/>
          <p:cNvCxnSpPr>
            <a:stCxn id="4" idx="2"/>
            <a:endCxn id="6" idx="0"/>
          </p:cNvCxnSpPr>
          <p:nvPr/>
        </p:nvCxnSpPr>
        <p:spPr>
          <a:xfrm>
            <a:off x="3689985" y="1734820"/>
            <a:ext cx="0" cy="48641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stCxn id="6" idx="2"/>
            <a:endCxn id="10" idx="0"/>
          </p:cNvCxnSpPr>
          <p:nvPr/>
        </p:nvCxnSpPr>
        <p:spPr>
          <a:xfrm>
            <a:off x="3689985" y="2784475"/>
            <a:ext cx="0" cy="48641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951865" y="3384550"/>
            <a:ext cx="1142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公司</a:t>
            </a:r>
            <a:r>
              <a:rPr lang="zh-CN" altLang="en-US"/>
              <a:t>领导</a:t>
            </a:r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2111375" y="4883785"/>
            <a:ext cx="1385570" cy="56324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绩效应用</a:t>
            </a:r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389890" y="4083685"/>
            <a:ext cx="11419205" cy="0"/>
          </a:xfrm>
          <a:prstGeom prst="line">
            <a:avLst/>
          </a:prstGeom>
          <a:ln w="9525">
            <a:prstDash val="dash"/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肘形连接符 15"/>
          <p:cNvCxnSpPr>
            <a:stCxn id="10" idx="2"/>
            <a:endCxn id="14" idx="0"/>
          </p:cNvCxnSpPr>
          <p:nvPr/>
        </p:nvCxnSpPr>
        <p:spPr>
          <a:xfrm rot="5400000">
            <a:off x="2722245" y="3916045"/>
            <a:ext cx="1049655" cy="885825"/>
          </a:xfrm>
          <a:prstGeom prst="bentConnector3">
            <a:avLst>
              <a:gd name="adj1" fmla="val 50030"/>
            </a:avLst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3923665" y="4883785"/>
            <a:ext cx="1385570" cy="56324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奖励</a:t>
            </a:r>
            <a:r>
              <a:rPr lang="zh-CN" altLang="en-US"/>
              <a:t>发放</a:t>
            </a:r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601980" y="4976495"/>
            <a:ext cx="1492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人事</a:t>
            </a:r>
            <a:r>
              <a:rPr lang="en-US" altLang="zh-CN"/>
              <a:t>/</a:t>
            </a:r>
            <a:r>
              <a:rPr lang="zh-CN" altLang="en-US"/>
              <a:t>财务</a:t>
            </a:r>
            <a:endParaRPr lang="zh-CN" altLang="en-US"/>
          </a:p>
        </p:txBody>
      </p:sp>
      <p:cxnSp>
        <p:nvCxnSpPr>
          <p:cNvPr id="19" name="肘形连接符 18"/>
          <p:cNvCxnSpPr>
            <a:stCxn id="10" idx="2"/>
            <a:endCxn id="17" idx="0"/>
          </p:cNvCxnSpPr>
          <p:nvPr/>
        </p:nvCxnSpPr>
        <p:spPr>
          <a:xfrm rot="5400000" flipV="1">
            <a:off x="3628390" y="3895725"/>
            <a:ext cx="1049655" cy="926465"/>
          </a:xfrm>
          <a:prstGeom prst="bentConnector3">
            <a:avLst>
              <a:gd name="adj1" fmla="val 50030"/>
            </a:avLst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4577715" y="2146300"/>
            <a:ext cx="65538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②审核数据真实性及考核应用一致性，并完成</a:t>
            </a:r>
            <a:r>
              <a:rPr lang="zh-CN" altLang="en-US"/>
              <a:t>汇总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（每月第</a:t>
            </a:r>
            <a:r>
              <a:rPr lang="en-US" altLang="zh-CN">
                <a:solidFill>
                  <a:srgbClr val="FF0000"/>
                </a:solidFill>
              </a:rPr>
              <a:t>2</a:t>
            </a:r>
            <a:r>
              <a:rPr lang="zh-CN" altLang="en-US">
                <a:solidFill>
                  <a:srgbClr val="FF0000"/>
                </a:solidFill>
              </a:rPr>
              <a:t>个工作日）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616450" y="3188970"/>
            <a:ext cx="65538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③最终应用结果报领导审批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（每月</a:t>
            </a:r>
            <a:r>
              <a:rPr lang="en-US">
                <a:solidFill>
                  <a:srgbClr val="FF0000"/>
                </a:solidFill>
              </a:rPr>
              <a:t>6</a:t>
            </a:r>
            <a:r>
              <a:rPr lang="zh-CN" altLang="en-US">
                <a:solidFill>
                  <a:srgbClr val="FF0000"/>
                </a:solidFill>
              </a:rPr>
              <a:t>号前）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638165" y="4699635"/>
            <a:ext cx="65538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④领导报批通过，由人事</a:t>
            </a:r>
            <a:r>
              <a:rPr lang="zh-CN" altLang="en-US"/>
              <a:t>落实绩效应用和奖励发放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（每月</a:t>
            </a:r>
            <a:r>
              <a:rPr lang="en-US">
                <a:solidFill>
                  <a:srgbClr val="FF0000"/>
                </a:solidFill>
              </a:rPr>
              <a:t>8</a:t>
            </a:r>
            <a:r>
              <a:rPr lang="zh-CN" altLang="en-US">
                <a:solidFill>
                  <a:srgbClr val="FF0000"/>
                </a:solidFill>
              </a:rPr>
              <a:t>号前）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206375" y="133350"/>
            <a:ext cx="10244455" cy="721360"/>
          </a:xfrm>
        </p:spPr>
        <p:txBody>
          <a:bodyPr>
            <a:normAutofit fontScale="90000"/>
          </a:bodyPr>
          <a:lstStyle/>
          <a:p>
            <a:r>
              <a:rPr lang="zh-CN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专项运作</a:t>
            </a:r>
            <a:endParaRPr lang="zh-CN" altLang="en-US" sz="40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303530" y="739775"/>
          <a:ext cx="11554460" cy="2329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7660"/>
                <a:gridCol w="1440180"/>
                <a:gridCol w="1927225"/>
                <a:gridCol w="1401445"/>
                <a:gridCol w="2296795"/>
                <a:gridCol w="1489075"/>
                <a:gridCol w="1402080"/>
              </a:tblGrid>
              <a:tr h="40894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rgbClr val="FFFF00"/>
                          </a:solidFill>
                        </a:rPr>
                        <a:t>报告</a:t>
                      </a:r>
                      <a:r>
                        <a:rPr lang="zh-CN" altLang="en-US"/>
                        <a:t>层级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报告</a:t>
                      </a:r>
                      <a:r>
                        <a:rPr lang="zh-CN" altLang="en-US"/>
                        <a:t>名称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报告</a:t>
                      </a:r>
                      <a:r>
                        <a:rPr lang="zh-CN" altLang="en-US"/>
                        <a:t>目的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发送对象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报告</a:t>
                      </a:r>
                      <a:r>
                        <a:rPr lang="zh-CN" altLang="en-US"/>
                        <a:t>内容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报告</a:t>
                      </a:r>
                      <a:r>
                        <a:rPr lang="zh-CN" altLang="en-US"/>
                        <a:t>形式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发送</a:t>
                      </a:r>
                      <a:r>
                        <a:rPr lang="zh-CN" altLang="en-US"/>
                        <a:t>频次</a:t>
                      </a:r>
                      <a:endParaRPr lang="zh-CN" altLang="en-US"/>
                    </a:p>
                  </a:txBody>
                  <a:tcPr/>
                </a:tc>
              </a:tr>
              <a:tr h="640080">
                <a:tc rowSpan="2"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整体（集成</a:t>
                      </a:r>
                      <a:r>
                        <a:rPr lang="en-US" altLang="zh-CN"/>
                        <a:t>14</a:t>
                      </a:r>
                      <a:r>
                        <a:rPr lang="zh-CN" altLang="en-US"/>
                        <a:t>个专项）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整体看板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可视化项目进展给</a:t>
                      </a:r>
                      <a:r>
                        <a:rPr lang="zh-CN" altLang="en-US"/>
                        <a:t>高层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公司高层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目标</a:t>
                      </a:r>
                      <a:r>
                        <a:rPr lang="zh-CN" altLang="en-US"/>
                        <a:t>达成、计划</a:t>
                      </a:r>
                      <a:r>
                        <a:rPr lang="zh-CN" altLang="en-US"/>
                        <a:t>完成、健康度、</a:t>
                      </a:r>
                      <a:r>
                        <a:rPr lang="zh-CN" altLang="en-US"/>
                        <a:t>风险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手机</a:t>
                      </a:r>
                      <a:r>
                        <a:rPr lang="zh-CN" altLang="en-US"/>
                        <a:t>看板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实时</a:t>
                      </a:r>
                      <a:endParaRPr lang="zh-CN" altLang="en-US"/>
                    </a:p>
                    <a:p>
                      <a:pPr>
                        <a:buNone/>
                      </a:pPr>
                      <a:r>
                        <a:rPr lang="en-US" altLang="zh-CN"/>
                        <a:t>4</a:t>
                      </a:r>
                      <a:r>
                        <a:rPr lang="zh-CN" altLang="en-US"/>
                        <a:t>月</a:t>
                      </a:r>
                      <a:r>
                        <a:rPr lang="zh-CN" altLang="en-US"/>
                        <a:t>完成</a:t>
                      </a:r>
                      <a:endParaRPr lang="zh-CN" altLang="en-US"/>
                    </a:p>
                  </a:txBody>
                  <a:tcPr/>
                </a:tc>
              </a:tr>
              <a:tr h="640080"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月度</a:t>
                      </a:r>
                      <a:r>
                        <a:rPr lang="zh-CN" altLang="en-US"/>
                        <a:t>进展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可视化项目进展给项目</a:t>
                      </a:r>
                      <a:r>
                        <a:rPr lang="zh-CN" altLang="en-US" sz="1800">
                          <a:sym typeface="+mn-ea"/>
                        </a:rPr>
                        <a:t>负责人</a:t>
                      </a:r>
                      <a:endParaRPr lang="zh-CN" altLang="en-US" sz="1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项目负责人</a:t>
                      </a:r>
                      <a:endParaRPr lang="zh-CN" altLang="en-US" sz="1800"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抄送副总</a:t>
                      </a:r>
                      <a:endParaRPr lang="zh-CN" altLang="en-US" sz="1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目标达成、计划完成、健康度、风险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网页</a:t>
                      </a:r>
                      <a:r>
                        <a:rPr lang="zh-CN" altLang="en-US"/>
                        <a:t>看板</a:t>
                      </a:r>
                      <a:endParaRPr lang="zh-CN" altLang="en-US"/>
                    </a:p>
                    <a:p>
                      <a:pPr>
                        <a:buNone/>
                      </a:pPr>
                      <a:r>
                        <a:rPr lang="zh-CN" altLang="en-US"/>
                        <a:t>邮件</a:t>
                      </a:r>
                      <a:r>
                        <a:rPr lang="zh-CN" altLang="en-US"/>
                        <a:t>发布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每月</a:t>
                      </a:r>
                      <a:endParaRPr lang="zh-CN" altLang="en-US"/>
                    </a:p>
                    <a:p>
                      <a:pPr>
                        <a:buNone/>
                      </a:pPr>
                      <a:r>
                        <a:rPr lang="en-US" altLang="zh-CN"/>
                        <a:t>4</a:t>
                      </a:r>
                      <a:r>
                        <a:rPr lang="zh-CN" altLang="en-US"/>
                        <a:t>月开始</a:t>
                      </a:r>
                      <a:endParaRPr lang="zh-CN" altLang="en-US"/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/>
                        <a:t>各专项</a:t>
                      </a:r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/>
                        <a:t>月度</a:t>
                      </a:r>
                      <a:r>
                        <a:rPr lang="zh-CN" altLang="en-US" b="1"/>
                        <a:t>总结</a:t>
                      </a:r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1">
                          <a:sym typeface="+mn-ea"/>
                        </a:rPr>
                        <a:t>可视化项目进展给项目</a:t>
                      </a:r>
                      <a:r>
                        <a:rPr lang="zh-CN" altLang="en-US" sz="1800" b="1">
                          <a:sym typeface="+mn-ea"/>
                        </a:rPr>
                        <a:t>成员</a:t>
                      </a:r>
                      <a:endParaRPr lang="zh-CN" altLang="en-US" sz="1800" b="1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1">
                          <a:sym typeface="+mn-ea"/>
                        </a:rPr>
                        <a:t>各项目组成员</a:t>
                      </a:r>
                      <a:r>
                        <a:rPr lang="zh-CN" altLang="en-US" sz="1800" b="1">
                          <a:sym typeface="+mn-ea"/>
                        </a:rPr>
                        <a:t>抄送副总</a:t>
                      </a:r>
                      <a:endParaRPr lang="zh-CN" altLang="en-US" sz="1800" b="1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1">
                          <a:sym typeface="+mn-ea"/>
                        </a:rPr>
                        <a:t>目标达成、计划完成、健康度、风险</a:t>
                      </a:r>
                      <a:r>
                        <a:rPr lang="zh-CN" altLang="en-US" sz="1800" b="1">
                          <a:sym typeface="+mn-ea"/>
                        </a:rPr>
                        <a:t>提报</a:t>
                      </a:r>
                      <a:endParaRPr lang="zh-CN" altLang="en-US" sz="1800" b="1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/>
                        <a:t>邮件</a:t>
                      </a:r>
                      <a:endParaRPr lang="zh-CN" altLang="en-US" b="1"/>
                    </a:p>
                    <a:p>
                      <a:pPr>
                        <a:buNone/>
                      </a:pPr>
                      <a:r>
                        <a:rPr lang="zh-CN" altLang="en-US" b="1"/>
                        <a:t>总结文档</a:t>
                      </a:r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1">
                          <a:sym typeface="+mn-ea"/>
                        </a:rPr>
                        <a:t>每月</a:t>
                      </a:r>
                      <a:endParaRPr lang="zh-CN" altLang="en-US" sz="1800" b="1"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800" b="1">
                          <a:sym typeface="+mn-ea"/>
                        </a:rPr>
                        <a:t>4</a:t>
                      </a:r>
                      <a:r>
                        <a:rPr lang="zh-CN" altLang="en-US" sz="1800" b="1">
                          <a:sym typeface="+mn-ea"/>
                        </a:rPr>
                        <a:t>月开始</a:t>
                      </a:r>
                      <a:endParaRPr lang="zh-CN" altLang="en-US" b="1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303530" y="3150235"/>
          <a:ext cx="1155446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4120"/>
                <a:gridCol w="1711960"/>
                <a:gridCol w="1898650"/>
                <a:gridCol w="1113790"/>
                <a:gridCol w="1330325"/>
                <a:gridCol w="2884805"/>
                <a:gridCol w="140081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rgbClr val="FFFF00"/>
                          </a:solidFill>
                        </a:rPr>
                        <a:t>会议</a:t>
                      </a:r>
                      <a:r>
                        <a:rPr lang="zh-CN" altLang="en-US"/>
                        <a:t>层级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会议名称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会议</a:t>
                      </a:r>
                      <a:r>
                        <a:rPr lang="zh-CN" altLang="en-US"/>
                        <a:t>目的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汇报人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汇报</a:t>
                      </a:r>
                      <a:r>
                        <a:rPr lang="zh-CN" altLang="en-US"/>
                        <a:t>对象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会议</a:t>
                      </a:r>
                      <a:r>
                        <a:rPr lang="zh-CN" altLang="en-US"/>
                        <a:t>内容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会议</a:t>
                      </a:r>
                      <a:r>
                        <a:rPr lang="zh-CN" altLang="en-US"/>
                        <a:t>频次</a:t>
                      </a:r>
                      <a:endParaRPr lang="zh-CN" altLang="en-US"/>
                    </a:p>
                  </a:txBody>
                  <a:tcPr/>
                </a:tc>
              </a:tr>
              <a:tr h="640080">
                <a:tc rowSpan="3"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整体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开工会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对齐专项目标及运作</a:t>
                      </a:r>
                      <a:r>
                        <a:rPr lang="zh-CN" altLang="en-US"/>
                        <a:t>要求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袁德明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各项目</a:t>
                      </a:r>
                      <a:r>
                        <a:rPr lang="zh-CN" altLang="en-US"/>
                        <a:t>负责人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专项运作方式、专项考核细则、</a:t>
                      </a:r>
                      <a:r>
                        <a:rPr lang="zh-CN" altLang="en-US"/>
                        <a:t>答疑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</a:t>
                      </a:r>
                      <a:r>
                        <a:rPr lang="zh-CN" altLang="en-US"/>
                        <a:t>月</a:t>
                      </a:r>
                      <a:r>
                        <a:rPr lang="zh-CN" altLang="en-US"/>
                        <a:t>完成</a:t>
                      </a:r>
                      <a:endParaRPr lang="zh-CN" altLang="en-US"/>
                    </a:p>
                  </a:txBody>
                  <a:tcPr/>
                </a:tc>
              </a:tr>
              <a:tr h="640080"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月度</a:t>
                      </a:r>
                      <a:r>
                        <a:rPr lang="zh-CN" altLang="en-US"/>
                        <a:t>评审</a:t>
                      </a:r>
                      <a:endParaRPr lang="zh-CN" altLang="en-US"/>
                    </a:p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rgbClr val="FF0000"/>
                          </a:solidFill>
                        </a:rPr>
                        <a:t>（非健康</a:t>
                      </a:r>
                      <a:r>
                        <a:rPr lang="zh-CN" altLang="en-US">
                          <a:solidFill>
                            <a:srgbClr val="FF0000"/>
                          </a:solidFill>
                        </a:rPr>
                        <a:t>专项）</a:t>
                      </a:r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项目进度对齐及过程</a:t>
                      </a:r>
                      <a:r>
                        <a:rPr lang="zh-CN" altLang="en-US" sz="1800">
                          <a:sym typeface="+mn-ea"/>
                        </a:rPr>
                        <a:t>纠偏</a:t>
                      </a:r>
                      <a:endParaRPr lang="zh-CN" altLang="en-US" sz="1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各项目负责人</a:t>
                      </a:r>
                      <a:endParaRPr lang="zh-CN" altLang="en-US" sz="1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公司</a:t>
                      </a:r>
                      <a:r>
                        <a:rPr lang="zh-CN" altLang="en-US" sz="1800">
                          <a:sym typeface="+mn-ea"/>
                        </a:rPr>
                        <a:t>副总</a:t>
                      </a:r>
                      <a:endParaRPr lang="zh-CN" altLang="en-US" sz="1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专项目标达成进展、风险上报、资源诉请</a:t>
                      </a:r>
                      <a:r>
                        <a:rPr lang="zh-CN" altLang="en-US" sz="1800">
                          <a:sym typeface="+mn-ea"/>
                        </a:rPr>
                        <a:t>等</a:t>
                      </a:r>
                      <a:endParaRPr lang="zh-CN" altLang="en-US" sz="1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每月</a:t>
                      </a:r>
                      <a:endParaRPr lang="zh-CN" altLang="en-US"/>
                    </a:p>
                    <a:p>
                      <a:pPr>
                        <a:buNone/>
                      </a:pPr>
                      <a:r>
                        <a:rPr lang="en-US" altLang="zh-CN"/>
                        <a:t>4</a:t>
                      </a:r>
                      <a:r>
                        <a:rPr lang="zh-CN" altLang="en-US"/>
                        <a:t>月开始</a:t>
                      </a:r>
                      <a:endParaRPr lang="zh-CN" altLang="en-US"/>
                    </a:p>
                  </a:txBody>
                  <a:tcPr/>
                </a:tc>
              </a:tr>
              <a:tr h="640080"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项目</a:t>
                      </a:r>
                      <a:r>
                        <a:rPr lang="zh-CN" altLang="en-US"/>
                        <a:t>结项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项目结果总结及</a:t>
                      </a:r>
                      <a:r>
                        <a:rPr lang="zh-CN" altLang="en-US" sz="1800">
                          <a:sym typeface="+mn-ea"/>
                        </a:rPr>
                        <a:t>考核应用</a:t>
                      </a:r>
                      <a:endParaRPr lang="zh-CN" altLang="en-US" sz="1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各项目负责人</a:t>
                      </a:r>
                      <a:endParaRPr lang="zh-CN" altLang="en-US" sz="1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公司</a:t>
                      </a:r>
                      <a:r>
                        <a:rPr lang="zh-CN" altLang="en-US" sz="1800">
                          <a:sym typeface="+mn-ea"/>
                        </a:rPr>
                        <a:t>副总</a:t>
                      </a:r>
                      <a:endParaRPr lang="zh-CN" altLang="en-US" sz="1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专项目标达成总结、考核结果应用</a:t>
                      </a:r>
                      <a:r>
                        <a:rPr lang="zh-CN" altLang="en-US" sz="1800">
                          <a:sym typeface="+mn-ea"/>
                        </a:rPr>
                        <a:t>提报</a:t>
                      </a:r>
                      <a:endParaRPr lang="zh-CN" altLang="en-US" sz="1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27</a:t>
                      </a:r>
                      <a:r>
                        <a:rPr lang="zh-CN" altLang="en-US"/>
                        <a:t>年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月</a:t>
                      </a:r>
                      <a:r>
                        <a:rPr lang="zh-CN" altLang="en-US"/>
                        <a:t>完成</a:t>
                      </a:r>
                      <a:endParaRPr lang="zh-CN" altLang="en-US"/>
                    </a:p>
                  </a:txBody>
                  <a:tcPr/>
                </a:tc>
              </a:tr>
              <a:tr h="640080">
                <a:tc rowSpan="2"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各专项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开工会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对齐专项目标及具体运作</a:t>
                      </a:r>
                      <a:endParaRPr lang="zh-CN" altLang="en-US" sz="1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各专项负责人</a:t>
                      </a:r>
                      <a:endParaRPr lang="zh-CN" altLang="en-US" sz="1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各专项</a:t>
                      </a:r>
                      <a:r>
                        <a:rPr lang="zh-CN" altLang="en-US" sz="1800">
                          <a:sym typeface="+mn-ea"/>
                        </a:rPr>
                        <a:t>组成员</a:t>
                      </a:r>
                      <a:endParaRPr lang="zh-CN" altLang="en-US" sz="1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专项运作方式、计划</a:t>
                      </a:r>
                      <a:r>
                        <a:rPr lang="zh-CN" altLang="en-US" sz="1800">
                          <a:sym typeface="+mn-ea"/>
                        </a:rPr>
                        <a:t>分解、专项考核细则、答疑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4</a:t>
                      </a:r>
                      <a:r>
                        <a:rPr lang="zh-CN" altLang="en-US" sz="1800">
                          <a:sym typeface="+mn-ea"/>
                        </a:rPr>
                        <a:t>月</a:t>
                      </a:r>
                      <a:r>
                        <a:rPr lang="zh-CN" altLang="en-US" sz="1800">
                          <a:sym typeface="+mn-ea"/>
                        </a:rPr>
                        <a:t>完成</a:t>
                      </a:r>
                      <a:endParaRPr lang="zh-CN" altLang="en-US" sz="1800">
                        <a:sym typeface="+mn-ea"/>
                      </a:endParaRPr>
                    </a:p>
                  </a:txBody>
                  <a:tcPr/>
                </a:tc>
              </a:tr>
              <a:tr h="640080"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项目</a:t>
                      </a:r>
                      <a:r>
                        <a:rPr lang="zh-CN" altLang="en-US" sz="1800">
                          <a:sym typeface="+mn-ea"/>
                        </a:rPr>
                        <a:t>例会</a:t>
                      </a:r>
                      <a:endParaRPr lang="zh-CN" altLang="en-US" sz="1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项目进度</a:t>
                      </a:r>
                      <a:r>
                        <a:rPr lang="zh-CN" altLang="en-US" sz="1800">
                          <a:sym typeface="+mn-ea"/>
                        </a:rPr>
                        <a:t>对齐</a:t>
                      </a:r>
                      <a:endParaRPr lang="zh-CN" altLang="en-US" sz="1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各专项负责人</a:t>
                      </a:r>
                      <a:endParaRPr lang="zh-CN" altLang="en-US" sz="1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各专项组成员</a:t>
                      </a:r>
                      <a:endParaRPr lang="zh-CN" altLang="en-US" sz="1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专项目标、进度、</a:t>
                      </a:r>
                      <a:r>
                        <a:rPr lang="zh-CN" altLang="en-US"/>
                        <a:t>风险对齐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1</a:t>
                      </a:r>
                      <a:r>
                        <a:rPr lang="zh-CN" altLang="en-US" sz="1800">
                          <a:sym typeface="+mn-ea"/>
                        </a:rPr>
                        <a:t>月</a:t>
                      </a:r>
                      <a:r>
                        <a:rPr lang="en-US" altLang="zh-CN" sz="1800">
                          <a:sym typeface="+mn-ea"/>
                        </a:rPr>
                        <a:t>1</a:t>
                      </a:r>
                      <a:r>
                        <a:rPr lang="zh-CN" altLang="en-US" sz="1800">
                          <a:sym typeface="+mn-ea"/>
                        </a:rPr>
                        <a:t>次</a:t>
                      </a:r>
                      <a:endParaRPr lang="zh-CN" altLang="en-US" sz="1800"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rgbClr val="FF0000"/>
                          </a:solidFill>
                          <a:sym typeface="+mn-ea"/>
                        </a:rPr>
                        <a:t>可选项</a:t>
                      </a:r>
                      <a:endParaRPr lang="zh-CN" altLang="en-US" sz="1800">
                        <a:solidFill>
                          <a:srgbClr val="FF0000"/>
                        </a:solidFill>
                        <a:sym typeface="+mn-ea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206375" y="133350"/>
            <a:ext cx="10244455" cy="721360"/>
          </a:xfrm>
        </p:spPr>
        <p:txBody>
          <a:bodyPr>
            <a:normAutofit fontScale="90000"/>
          </a:bodyPr>
          <a:lstStyle/>
          <a:p>
            <a:r>
              <a:rPr lang="zh-CN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每月</a:t>
            </a:r>
            <a:r>
              <a:rPr lang="zh-CN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事项</a:t>
            </a:r>
            <a:endParaRPr lang="zh-CN" altLang="en-US" sz="40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358775" y="1339215"/>
          <a:ext cx="11337290" cy="28644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9432290"/>
              </a:tblGrid>
              <a:tr h="49149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月度</a:t>
                      </a:r>
                      <a:r>
                        <a:rPr lang="zh-CN" altLang="en-US"/>
                        <a:t>节点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关键</a:t>
                      </a:r>
                      <a:r>
                        <a:rPr lang="zh-CN" altLang="en-US"/>
                        <a:t>管理活动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77597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第一个工作日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①提报上月目标和一二级计划达成情况（钉钉</a:t>
                      </a:r>
                      <a:r>
                        <a:rPr lang="zh-CN" altLang="en-US"/>
                        <a:t>文档）</a:t>
                      </a:r>
                      <a:endParaRPr lang="zh-CN" altLang="en-US"/>
                    </a:p>
                    <a:p>
                      <a:pPr>
                        <a:buNone/>
                      </a:pPr>
                      <a:r>
                        <a:rPr lang="zh-CN" altLang="en-US"/>
                        <a:t>②提报专项绩效应用</a:t>
                      </a:r>
                      <a:r>
                        <a:rPr lang="zh-CN" altLang="en-US"/>
                        <a:t>结果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95313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前五个工作</a:t>
                      </a:r>
                      <a:r>
                        <a:rPr lang="zh-CN" altLang="en-US"/>
                        <a:t>日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①完成上月专项总结并发布归档（形式不限，需包含目标达成和</a:t>
                      </a:r>
                      <a:r>
                        <a:rPr lang="zh-CN" altLang="en-US"/>
                        <a:t>一二级计划实施</a:t>
                      </a:r>
                      <a:r>
                        <a:rPr lang="zh-CN" altLang="en-US"/>
                        <a:t>进展）</a:t>
                      </a:r>
                      <a:endParaRPr lang="zh-CN" altLang="en-US"/>
                    </a:p>
                    <a:p>
                      <a:pPr>
                        <a:buNone/>
                      </a:pPr>
                      <a:r>
                        <a:rPr lang="zh-CN" altLang="en-US"/>
                        <a:t>②向副总汇报专项进度和过程风险（仅针对上月目标未达成专项</a:t>
                      </a:r>
                      <a:r>
                        <a:rPr lang="zh-CN" altLang="en-US"/>
                        <a:t>负责人）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64389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最后一个</a:t>
                      </a:r>
                      <a:r>
                        <a:rPr lang="zh-CN" altLang="en-US"/>
                        <a:t>工作日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①将</a:t>
                      </a:r>
                      <a:r>
                        <a:rPr lang="zh-CN" altLang="en-US" sz="1800">
                          <a:sym typeface="+mn-ea"/>
                        </a:rPr>
                        <a:t>下月一二级计划任务下发给相应责任人（形式不限）</a:t>
                      </a:r>
                      <a:endParaRPr lang="zh-CN" altLang="en-US"/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184*86"/>
  <p:tag name="TABLE_ENDDRAG_RECT" val="543*125*184*86"/>
</p:tagLst>
</file>

<file path=ppt/tags/tag2.xml><?xml version="1.0" encoding="utf-8"?>
<p:tagLst xmlns:p="http://schemas.openxmlformats.org/presentationml/2006/main">
  <p:tag name="TABLE_ENDDRAG_ORIGIN_RECT" val="747*193"/>
  <p:tag name="TABLE_ENDDRAG_RECT" val="25*270*747*193"/>
</p:tagLst>
</file>

<file path=ppt/tags/tag3.xml><?xml version="1.0" encoding="utf-8"?>
<p:tagLst xmlns:p="http://schemas.openxmlformats.org/presentationml/2006/main">
  <p:tag name="TABLE_ENDDRAG_ORIGIN_RECT" val="909*203"/>
  <p:tag name="TABLE_ENDDRAG_RECT" val="23*253*909*203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">
      <a:majorFont>
        <a:latin typeface="Arial Black"/>
        <a:ea typeface="微软雅黑"/>
        <a:cs typeface=""/>
      </a:majorFont>
      <a:minorFont>
        <a:latin typeface="Arial"/>
        <a:ea typeface="微软雅黑 C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headEnd type="none" w="med" len="med"/>
          <a:tailEnd type="arrow" w="med" len="med"/>
        </a:ln>
      </a:spPr>
      <a:bodyPr/>
      <a:lstStyle/>
      <a:style>
        <a:lnRef idx="3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2044</Words>
  <Application>WPS 演示</Application>
  <PresentationFormat>宽屏</PresentationFormat>
  <Paragraphs>490</Paragraphs>
  <Slides>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Wingdings</vt:lpstr>
      <vt:lpstr>Arial</vt:lpstr>
      <vt:lpstr>微软雅黑 CN Regular</vt:lpstr>
      <vt:lpstr>黑体</vt:lpstr>
      <vt:lpstr>Arial Unicode MS</vt:lpstr>
      <vt:lpstr>Arial Black</vt:lpstr>
      <vt:lpstr>等线</vt:lpstr>
      <vt:lpstr>自定义设计方案</vt:lpstr>
      <vt:lpstr>2026专项整体管理方案</vt:lpstr>
      <vt:lpstr>专项清单</vt:lpstr>
      <vt:lpstr>专项管理思路</vt:lpstr>
      <vt:lpstr>健康度评分</vt:lpstr>
      <vt:lpstr>里程碑管理</vt:lpstr>
      <vt:lpstr>考核应用</vt:lpstr>
      <vt:lpstr>专项运作</vt:lpstr>
      <vt:lpstr>每月事项</vt:lpstr>
    </vt:vector>
  </TitlesOfParts>
  <Company>Sky123.Org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Angela Liu</dc:creator>
  <cp:lastModifiedBy>袁德明</cp:lastModifiedBy>
  <cp:revision>3147</cp:revision>
  <dcterms:created xsi:type="dcterms:W3CDTF">2016-06-16T10:02:00Z</dcterms:created>
  <dcterms:modified xsi:type="dcterms:W3CDTF">2026-04-17T09:46:02Z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D769CC037B9A4CE4A8FB9D755C5CF1E1_12</vt:lpwstr>
  </property>
</Properties>
</file>